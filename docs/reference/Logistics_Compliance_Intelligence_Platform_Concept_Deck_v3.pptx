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istics_distribution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80760" y="0"/>
            <a:ext cx="685800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Logistics Compliance</a:t>
            </a:r>
            <a:br/>
            <a:r>
              <a:t>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BEE1E4"/>
                </a:solidFill>
              </a:defRPr>
            </a:pPr>
            <a:r>
              <a:t>Continuous assurance, audit readiness and supplier trust for Australian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Updated positioning: learn from modern compliance automation mechanics, but build a transport-native assurance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D2D7DE"/>
                </a:solidFill>
              </a:defRPr>
            </a:pPr>
            <a:r>
              <a:t>Concept deck v3 | 18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1. The refined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Useful benchmark: compliance automation. Final category: transport-native continuous assurance.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661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34340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What we are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10512"/>
            <a:ext cx="32461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1E2632"/>
                </a:solidFill>
              </a:defRPr>
            </a:pPr>
            <a:r>
              <a:t>A logistics compliance intelligence platform that turns transport operations data into compliance evidence, findings, remediation and audit-ready assurance.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5661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64008" cy="434340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44475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What it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10512"/>
            <a:ext cx="32461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1E2632"/>
                </a:solidFill>
              </a:defRPr>
            </a:pPr>
            <a:r>
              <a:t>Not another TMS, not a generic GRC repository, not an automated legal opinion, and not a copy of cybersecurity compliance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3375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64008" cy="434340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447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One-line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810512"/>
            <a:ext cx="30175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1E2632"/>
                </a:solidFill>
              </a:defRPr>
            </a:pPr>
            <a:r>
              <a:t>A continuous assurance platform for logistics operators, enterprise shippers, auditors and supply-chain partners.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2. What to learn from modern compliance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These mechanics work; the difference is that we apply them to transport operations and CoR/HVA assurance.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Framework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4292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5732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5732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6900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6900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Mapped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105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8545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8545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9713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9713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System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917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1357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1357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2525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2525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Automated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2730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4170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14170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5338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5338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Continuous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5542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16982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16982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8150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8150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Findings &amp; 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8355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9795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19795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20963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0963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Audit-ready reporting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Adopt the operating pattern: integration-first, evidence-led, always-on, audit-ready.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Extend it beyond IT/security evidence into physical logistics evidence: trips, drivers, vehicles, loads, schedules, incidents and suppliers.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Keep the language category-neutral: compliance automation mechanics, transport-native assurance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3. Why logistics is a different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evidence is physical, operational, multi-party and time-sensitive.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97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452628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53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Operational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2377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Compliance evidence lives in TMS, EWD, telematics, WMS, maintenance, HR, supplier systems and emails.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34440"/>
            <a:ext cx="2697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234440"/>
            <a:ext cx="64008" cy="452628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353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Multi-party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719072"/>
            <a:ext cx="2377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CoR responsibility can include operators, employers, schedulers, consignors, consignees, loaders and unloaders.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234440"/>
            <a:ext cx="2697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234440"/>
            <a:ext cx="64008" cy="452628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353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Control effectiveness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719072"/>
            <a:ext cx="2377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The hard question is not whether a policy exists. It is whether controls are operating and preventing unsafe outcomes.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234440"/>
            <a:ext cx="2240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234440"/>
            <a:ext cx="64008" cy="452628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135331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Audit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1719072"/>
            <a:ext cx="1920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Auditors and customers need reliable evidence trails, not screenshots and last-minute spreadsheets.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4.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Build the assurance layer above existing logistics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42337"/>
                </a:solidFill>
              </a:defRPr>
            </a:pPr>
            <a:r>
              <a:t>Existing logistics systems run the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TMS plans jobs and dispatches freight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EWD records work and rest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Telematics records vehicle movement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Maintenance systems manage assets and defects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WMS manages loading/dispatch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5877E"/>
                </a:solidFill>
              </a:defRPr>
            </a:pPr>
            <a:r>
              <a:t>Our platform proves the controls are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Regulatory obligations become controls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Controls map to evidence and source systems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Evidence is tested continuously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Findings trigger remediation</a:t>
            </a:r>
          </a:p>
          <a:p>
            <a:pPr>
              <a:spcAft>
                <a:spcPts val="600"/>
              </a:spcAft>
              <a:defRPr sz="1600">
                <a:solidFill>
                  <a:srgbClr val="1E2632"/>
                </a:solidFill>
              </a:defRPr>
            </a:pPr>
            <a:r>
              <a:t>Assurance can be shared with customers and auditors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44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074920"/>
            <a:ext cx="64008" cy="64008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19379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Category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55955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Logistics Assurance Automation: continuous control monitoring, evidence collection, remediation and audit readiness for transport operations and supply-chain partners.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5. The compliance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HVA and CoR must be modelled separately.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HVA accreditation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1089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Voluntary accreditation framework for eligible heavy-vehicle operators. From 1 Aug 2026, HVA introduces whole-of-business SMS assessment and PSOE-based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533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CoR / Primary Duty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089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Broader duty framework for parties that influence or control transport activities. Outsourcing logistics does not automatically remove responsibility.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533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Product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19072"/>
            <a:ext cx="31089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Do not sell a generic checklist. First determine applicability by jurisdiction, activity, vehicle type, role, accreditation status and control influence.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6. Compliance Control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product’s core IP should be a graph, not a document library.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Regulation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7471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8912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8912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10080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0080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Obligation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9184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60624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0624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1792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1792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0895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2336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2336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3504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504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607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4048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64048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5215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5215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4319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15760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15760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16927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6927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Data 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6032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67472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67472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8640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8640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7744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9183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19183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0352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0352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Finding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9455" y="165506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70896" y="1325880"/>
            <a:ext cx="114198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70896" y="132588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72064" y="1444752"/>
            <a:ext cx="821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72064" y="1810512"/>
            <a:ext cx="821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Remediation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310896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3108960"/>
            <a:ext cx="64008" cy="210312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322783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Example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" y="3593591"/>
            <a:ext cx="3017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HVNL / CoR → manage fatigue risk → driver work/rest monitoring → EWD + TMS + roster → exception test → CAR → verification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310896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34840" y="3108960"/>
            <a:ext cx="64008" cy="210312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36007" y="322783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Why it matters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6007" y="3593591"/>
            <a:ext cx="3017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The same evidence can support operator assurance, HVA audit preparation, customer assurance and executive due diligence.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10896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38160" y="3108960"/>
            <a:ext cx="64008" cy="210312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9328" y="322783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Moat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9328" y="3593591"/>
            <a:ext cx="3017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Over time, the graph learns how regulations, controls, evidence sources, risk patterns and suppliers relate.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7. Product principle: no one-size-fits-all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Applicability must come before assurance scoring.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463040"/>
            <a:ext cx="158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64008" cy="10058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581912"/>
            <a:ext cx="126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947672"/>
            <a:ext cx="126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Jurisdiction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088" y="179222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0528" y="1463040"/>
            <a:ext cx="158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0528" y="1463040"/>
            <a:ext cx="64008" cy="10058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1696" y="1581912"/>
            <a:ext cx="126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1696" y="1947672"/>
            <a:ext cx="126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CoR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3776" y="179222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463040"/>
            <a:ext cx="158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463040"/>
            <a:ext cx="64008" cy="10058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6384" y="1581912"/>
            <a:ext cx="126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384" y="1947672"/>
            <a:ext cx="126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Vehicle/activity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179222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1463040"/>
            <a:ext cx="158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9904" y="1463040"/>
            <a:ext cx="64008" cy="10058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581912"/>
            <a:ext cx="126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947672"/>
            <a:ext cx="126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Accreditation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3152" y="179222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84592" y="1463040"/>
            <a:ext cx="158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84592" y="1463040"/>
            <a:ext cx="64008" cy="10058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5760" y="1581912"/>
            <a:ext cx="126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760" y="1947672"/>
            <a:ext cx="126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Operating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7840" y="179222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79280" y="1463040"/>
            <a:ext cx="158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9280" y="1463040"/>
            <a:ext cx="64008" cy="10058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80448" y="1581912"/>
            <a:ext cx="126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0448" y="1947672"/>
            <a:ext cx="126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Applicable controls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29184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291840"/>
            <a:ext cx="64008" cy="192024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341071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Bad product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3776472"/>
            <a:ext cx="4800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A generic dashboard says ‘92% compliant’ without explaining which obligations apply or what evidence supports the result.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29184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291840"/>
            <a:ext cx="64008" cy="19202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41071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Correct product behaviour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3776472"/>
            <a:ext cx="4800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The platform explains which controls apply, which evidence was tested, which PSOE dimension failed, and what remediation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8. The 20-control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Start narrow; design the catalogue so it can expand.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5486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075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733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Fatigue / work-rest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188720"/>
            <a:ext cx="64008" cy="5486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3075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6733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Fitness to drive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188720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188720"/>
            <a:ext cx="64008" cy="5486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13075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16733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Unsafe 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188720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1188720"/>
            <a:ext cx="64008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3075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6733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Speed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947672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1947672"/>
            <a:ext cx="64008" cy="5486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06654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4323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Vehicle maintenance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1947672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1947672"/>
            <a:ext cx="64008" cy="5486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206654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24323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Roadworthiness defects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1947672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1947672"/>
            <a:ext cx="64008" cy="5486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7" y="206654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7" y="24323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Mass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19" y="1947672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19" y="1947672"/>
            <a:ext cx="64008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206654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24323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Load restraint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706624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706624"/>
            <a:ext cx="64008" cy="5486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28254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19125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Driver licence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9000" y="2706624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29000" y="2706624"/>
            <a:ext cx="64008" cy="5486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0168" y="28254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319125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Driver competency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59" y="2706624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59" y="2706624"/>
            <a:ext cx="64008" cy="5486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7" y="28254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7" y="319125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Induction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19" y="2706624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9719" y="2706624"/>
            <a:ext cx="64008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0888" y="28254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90888" y="319125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Contractor onboarding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3465576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3465576"/>
            <a:ext cx="64008" cy="5486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39502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Contractor monitoring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29000" y="3465576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29000" y="3465576"/>
            <a:ext cx="64008" cy="5486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30168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9502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Loading/unloading safety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59" y="3465576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59" y="3465576"/>
            <a:ext cx="64008" cy="5486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7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0527" y="39502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CoR responsibilities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89719" y="3465576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89719" y="3465576"/>
            <a:ext cx="64008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90888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90888" y="39502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Risk assessments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4224528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0" y="4224528"/>
            <a:ext cx="64008" cy="5486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" y="4343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Record retention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29000" y="4224528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29000" y="4224528"/>
            <a:ext cx="64008" cy="5486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30168" y="4343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301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SMS review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09359" y="4224528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09359" y="4224528"/>
            <a:ext cx="64008" cy="5486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0527" y="4343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0527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Executive due diligence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89719" y="4224528"/>
            <a:ext cx="2697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89719" y="4224528"/>
            <a:ext cx="64008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90888" y="4343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9088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>
                <a:solidFill>
                  <a:srgbClr val="1E2632"/>
                </a:solidFill>
              </a:defRPr>
            </a:pPr>
            <a:r>
              <a:t>Regulatory 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9. MVP control-test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MVP should have enough breadth to prove cross-system assurance.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P0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1. Fatigue / work-rest</a:t>
            </a:r>
            <a:br/>
            <a:r>
              <a:t>2. Fitness to drive</a:t>
            </a:r>
            <a:br/>
            <a:r>
              <a:t>3. Scheduling risk</a:t>
            </a:r>
            <a:br/>
            <a:r>
              <a:t>4. Speed risk</a:t>
            </a:r>
            <a:br/>
            <a:r>
              <a:t>5. Vehicle maintenance</a:t>
            </a:r>
            <a:br/>
            <a:r>
              <a:t>6. Mass / loading</a:t>
            </a:r>
            <a:br/>
            <a:r>
              <a:t>7. Load restraint</a:t>
            </a:r>
            <a:br/>
            <a:r>
              <a:t>8. Incidents / CARs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Initial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~48 product-level tests across deterministic rules, pattern analytics and AI-supported evidence reasoning. Start with effective-dated configuration rather than hard-coded legal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Why these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They require multiple data sources, are operationally meaningful, are relevant to HVA/CoR assurance and create visible audit-prep savings.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10. PSOE is the assurance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Present, Suitable, Operating and Effective should be built into the product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97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53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23774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Does the control exist?</a:t>
            </a:r>
            <a:br/>
            <a:br/>
            <a:r>
              <a:t>Policy, owner, procedure, system configuration, evidence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34440"/>
            <a:ext cx="2697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353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Suitable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719072"/>
            <a:ext cx="23774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Is the control appropriate for this operator, fleet, supplier model, route profile and risk exposure?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234440"/>
            <a:ext cx="2697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353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Operating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719072"/>
            <a:ext cx="23774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Is the control being performed consistently?</a:t>
            </a:r>
            <a:br/>
            <a:br/>
            <a:r>
              <a:t>Coverage, exceptions, missing records, process adherence.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234440"/>
            <a:ext cx="2240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234440"/>
            <a:ext cx="64008" cy="448056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135331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Effective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1719072"/>
            <a:ext cx="1920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Is the control preventing or reducing the risk?</a:t>
            </a:r>
            <a:br/>
            <a:br/>
            <a:r>
              <a:t>Repeat issues, incidents, root causes, trend.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11. Example control: unsafe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This is where enterprise shippers become part of the value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5331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Obligation /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24231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Transport arrangements should not create unreasonable safety risk. Risk: delivery expectations indirectly encourage fatigue or speeding.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35331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719072"/>
            <a:ext cx="24231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Booking time, pickup time, delivery slot, route distance, driver hours, loading delay, actual route and speed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35331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719072"/>
            <a:ext cx="24231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Compare available time against feasible journey windows; correlate speed/fatigue exceptions with schedule pressure.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234440"/>
            <a:ext cx="2103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234440"/>
            <a:ext cx="64008" cy="448056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1353312"/>
            <a:ext cx="1783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1719072"/>
            <a:ext cx="17830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Finding: potentially unsafe schedule. Remediation: adjust slot, change driver, notify customer, verify future journeys.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12. Findings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AI proposes; humans confirm material compliance findings.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Automated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4292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5732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5732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6900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6900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Potential 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105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8545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8545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9713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9713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Evidence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917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1357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1357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2525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2525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Human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2730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4170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14170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5338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5338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Confirmed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5542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16982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16982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8150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8150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Corrective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8355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9795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19795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20963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0963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Verification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4290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3429000"/>
            <a:ext cx="64008" cy="182880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354787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Finding object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3913632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Control ID, severity, PSOE impact, affected entity, supporting evidence, confidence, root-cause hypothesis, status.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34290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3429000"/>
            <a:ext cx="64008" cy="182880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36007" y="354787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Human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7" y="3913632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Compliance manager approves or rejects material findings. Auditor makes external assurance judgement.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4290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3429000"/>
            <a:ext cx="64008" cy="182880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3608" y="354787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Audit trail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3913632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Every finding keeps lineage to data source, record ID, transformation, test version and review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13. Remediation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product must close the loop, not just raise exceptions.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4292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5732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5732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6900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6900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105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8545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8545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9713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9713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917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1357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1357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2525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2525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Due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2730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4170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14170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5338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5338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5542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16982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16982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8150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8150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Closure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8355" y="174650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9795" y="1417320"/>
            <a:ext cx="14930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19795" y="1417320"/>
            <a:ext cx="64008" cy="10058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20963" y="1536192"/>
            <a:ext cx="11730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0963" y="1901952"/>
            <a:ext cx="11730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1E2632"/>
                </a:solidFill>
              </a:defRPr>
            </a:pPr>
            <a:r>
              <a:t>Effectiveness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6118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Corrective Action Requests become a governed workflow with owner, evidence, escalation and verification.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High-risk findings require human acknowledgement and cannot be auto-closed by AI.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Effectiveness monitoring checks whether the same issue recurs after remediation.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14. Evidence 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Trust requires source lineage, not just generated summaries.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64008" cy="786384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075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7335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Evidence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64008" cy="786384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075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Source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8872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88720"/>
            <a:ext cx="64008" cy="786384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075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67335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Source record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28600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286000"/>
            <a:ext cx="64008" cy="786384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404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277063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Timestamp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28600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286000"/>
            <a:ext cx="64008" cy="786384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2404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77063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Driver / vehicle / trip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28600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286000"/>
            <a:ext cx="64008" cy="786384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2404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77063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Control 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8328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83280"/>
            <a:ext cx="64008" cy="786384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021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86791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Original value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38328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383280"/>
            <a:ext cx="64008" cy="786384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5021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86791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Transformation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383280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383280"/>
            <a:ext cx="64008" cy="786384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35021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386791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Test result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480559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4480559"/>
            <a:ext cx="64008" cy="786384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599431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496519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Hash / version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4480559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4480559"/>
            <a:ext cx="64008" cy="786384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0288" y="4599431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288" y="496519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Retention metadata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4480559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92440" y="4480559"/>
            <a:ext cx="64008" cy="786384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93608" y="4599431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3608" y="4965192"/>
            <a:ext cx="3063240" cy="192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Reviewer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15. Audit-ready workpaper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auditor should inspect evidence, not hunt for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Control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Requirement, control objective, owner, policy, procedure, applicability and risk 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Evidence 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All relevant records, source lineage, automated tests, exceptions, samples and missing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Judgement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Operator assessment, auditor comments, evidence requests, findings, CARs and closure verification.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16. Compliance 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network feature should be inspired by trust-sharing mechanics, not branded as a clone.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Provider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0">
                <a:solidFill>
                  <a:srgbClr val="1E2632"/>
                </a:solidFill>
              </a:defRPr>
            </a:pPr>
            <a:r>
              <a:t>A logistics provider controls which assurance information is shared with which customers: status, certificates, audit summary, open risk bands, corrective-action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Customer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0">
                <a:solidFill>
                  <a:srgbClr val="1E2632"/>
                </a:solidFill>
              </a:defRPr>
            </a:pPr>
            <a:r>
              <a:t>Large shippers see supplier assurance posture across carriers and subcontractors without receiving all operational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Commercial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0">
                <a:solidFill>
                  <a:srgbClr val="1E2632"/>
                </a:solidFill>
              </a:defRPr>
            </a:pPr>
            <a:r>
              <a:t>Reduces repeated supplier questionnaires, document chasing and opaque contractor risk while preserving governance and access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17. Product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Three products on one control/evidence graph.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Operator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Continuous compliance monitoring for transport operators: controls, evidence, findings, remediation, audit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Supplier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Enterprise view across outsourced logistics providers: passports, onboarding, supplier risk, evidence sharing, contractor remediation.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53312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Audit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19072"/>
            <a:ext cx="315467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Evidence-ready workpapers, sample suggestions, auditor collaboration, findings and closure verification.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18.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Integration-first and control-graph centric.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2240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61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1920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Operator dashboard</a:t>
            </a:r>
            <a:br/>
            <a:r>
              <a:t>Control explorer</a:t>
            </a:r>
            <a:br/>
            <a:r>
              <a:t>Findings</a:t>
            </a:r>
            <a:br/>
            <a:r>
              <a:t>CARs</a:t>
            </a:r>
            <a:br/>
            <a:r>
              <a:t>Audit pack</a:t>
            </a:r>
            <a:br/>
            <a:r>
              <a:t>Ask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143000"/>
            <a:ext cx="2240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114300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261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Assurance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627632"/>
            <a:ext cx="1920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Applicability</a:t>
            </a:r>
            <a:br/>
            <a:r>
              <a:t>Control library</a:t>
            </a:r>
            <a:br/>
            <a:r>
              <a:t>Rules</a:t>
            </a:r>
            <a:br/>
            <a:r>
              <a:t>PSOE</a:t>
            </a:r>
            <a:br/>
            <a:r>
              <a:t>Risk</a:t>
            </a:r>
            <a:br/>
            <a:r>
              <a:t>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143000"/>
            <a:ext cx="2240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114300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1261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1627632"/>
            <a:ext cx="1920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Regulatory mapping</a:t>
            </a:r>
            <a:br/>
            <a:r>
              <a:t>Evidence reasoning</a:t>
            </a:r>
            <a:br/>
            <a:r>
              <a:t>Root cause</a:t>
            </a:r>
            <a:br/>
            <a:r>
              <a:t>Narratives</a:t>
            </a:r>
            <a:br/>
            <a:r>
              <a:t>Copilot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143000"/>
            <a:ext cx="2240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143000"/>
            <a:ext cx="64008" cy="448056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1261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Evidence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1627632"/>
            <a:ext cx="1920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Evidence vault</a:t>
            </a:r>
            <a:br/>
            <a:r>
              <a:t>Documents</a:t>
            </a:r>
            <a:br/>
            <a:r>
              <a:t>Time-series</a:t>
            </a:r>
            <a:br/>
            <a:r>
              <a:t>Lineage</a:t>
            </a:r>
            <a:br/>
            <a:r>
              <a:t>Versions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143000"/>
            <a:ext cx="1417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1143000"/>
            <a:ext cx="64008" cy="448056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126187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1627632"/>
            <a:ext cx="1097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E2632"/>
                </a:solidFill>
              </a:defRPr>
            </a:pPr>
            <a:r>
              <a:t>TMS</a:t>
            </a:r>
            <a:br/>
            <a:r>
              <a:t>EWD</a:t>
            </a:r>
            <a:br/>
            <a:r>
              <a:t>GPS</a:t>
            </a:r>
            <a:br/>
            <a:r>
              <a:t>Fleet</a:t>
            </a:r>
            <a:br/>
            <a:r>
              <a:t>HR</a:t>
            </a:r>
            <a:br/>
            <a:r>
              <a:t>WMS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19. Seven MVP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Keep the first product focused and usable.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64008" cy="7772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261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1. Assurance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43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143000"/>
            <a:ext cx="64008" cy="7772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261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2. Control Explorer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627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64008" cy="7772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404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3. Findings Inbox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770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286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286000"/>
            <a:ext cx="64008" cy="77724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2404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4. Evidence Explorer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2770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29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64008" cy="77724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547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5. Corrective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13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429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429000"/>
            <a:ext cx="64008" cy="77724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3547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6. Audit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3913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5074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572000"/>
            <a:ext cx="64008" cy="7772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6908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7. Ask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0566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Purpose: make assurance explainable and action-oriented.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20. AI usage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Use AI where reasoning helps; use rules where compliance logic is deterministic.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Use deterministic rules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Known thresholds, mandatory fields, expired licences, overdue services, configured work/rest exceptions, permit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Use analytics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Patterns, clustering, repeated exceptions, route anomalies, supplier trends, schedule-induced risks.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Use AI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Document understanding, evidence mapping, root-cause hypotheses, corrective-action adequacy, audit narratives and Q&amp;A.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21. Security and trust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product must be trusted because it will hold sensitive operational and supplier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Tenant isolation, RBAC/ABAC, SSO/SAML/OIDC, MFA and fine-grained evidence-sharing permissions.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Immutable audit logs for evidence collection, test execution, AI reasoning, user review and remediation closure.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Australian data hosting option, encryption in transit/at rest, retention rules and data minimisation.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SOC 2 / ISO 27001-ready operating model should be designed early, even if certification comes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0060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800600"/>
            <a:ext cx="64008" cy="7315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919472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Trust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285232"/>
            <a:ext cx="10378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Never ask a customer to trust an AI conclusion. Show the control, data, test, evidence, confidence and human review trail.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22.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Generic GRC can store controls. This product understands transport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Not generic GRC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Risk registers, policies and questionnaires are useful but insufficient for live logistics assurance.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Transport-native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Journeys, work/rest, routes, loading, speed, maintenance, incidents, contractors and customer time slots.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Supply-chain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Operator assurance expands into customer/supplier assurance through passports and controlled evidence sharing.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23. MVP phase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Build the assurance core before the network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6060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" cy="47091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61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Phase 0</a:t>
            </a:r>
            <a:br/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2286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Control graph</a:t>
            </a:r>
            <a:br/>
            <a:r>
              <a:t>Applicability engine</a:t>
            </a:r>
            <a:br/>
            <a:r>
              <a:t>Evidence model</a:t>
            </a:r>
            <a:br/>
            <a:r>
              <a:t>Design partners</a:t>
            </a:r>
            <a:br/>
            <a:r>
              <a:t>Security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43000"/>
            <a:ext cx="26060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143000"/>
            <a:ext cx="64008" cy="47091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261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Phase 1</a:t>
            </a:r>
            <a:br/>
            <a:r>
              <a:t>Operator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627632"/>
            <a:ext cx="2286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8 domains</a:t>
            </a:r>
            <a:br/>
            <a:r>
              <a:t>48 tests</a:t>
            </a:r>
            <a:br/>
            <a:r>
              <a:t>TMS/EWD/GPS/Fleet</a:t>
            </a:r>
            <a:br/>
            <a:r>
              <a:t>Findings</a:t>
            </a:r>
            <a:br/>
            <a:r>
              <a:t>CARs</a:t>
            </a:r>
            <a:br/>
            <a:r>
              <a:t>Audit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6060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64008" cy="47091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261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Phase 2</a:t>
            </a:r>
            <a:br/>
            <a:r>
              <a:t>Audit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1627632"/>
            <a:ext cx="2286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Workpapers</a:t>
            </a:r>
            <a:br/>
            <a:r>
              <a:t>Sampling</a:t>
            </a:r>
            <a:br/>
            <a:r>
              <a:t>Auditor collaboration</a:t>
            </a:r>
            <a:br/>
            <a:r>
              <a:t>Evidence requests</a:t>
            </a:r>
            <a:br/>
            <a:r>
              <a:t>PSOE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143000"/>
            <a:ext cx="26060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43000"/>
            <a:ext cx="64008" cy="470916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261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Phase 3</a:t>
            </a:r>
            <a:br/>
            <a:r>
              <a:t>Supplier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627632"/>
            <a:ext cx="2286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1E2632"/>
                </a:solidFill>
              </a:defRPr>
            </a:pPr>
            <a:r>
              <a:t>Compliance Passport</a:t>
            </a:r>
            <a:br/>
            <a:r>
              <a:t>Enterprise dashboard</a:t>
            </a:r>
            <a:br/>
            <a:r>
              <a:t>Supplier onboarding</a:t>
            </a:r>
            <a:br/>
            <a:r>
              <a:t>Shared assurance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24. 12-month 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first commercial proof should be measurable audit-prep savings and better evidence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64008" cy="73152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26187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0-2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5 design partners; baseline audit effort; control mapping workshops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53312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143000"/>
            <a:ext cx="8412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143000"/>
            <a:ext cx="64008" cy="73152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1261872"/>
            <a:ext cx="8092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127248" y="1627632"/>
            <a:ext cx="8092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E2632"/>
                </a:solidFill>
              </a:defRPr>
            </a:pPr>
            <a:r>
              <a:t>5 design partners; baseline audit effort; control mapping workshops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075688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075688"/>
            <a:ext cx="64008" cy="73152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1945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3-4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560320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Pilot with TMS/EWD/GPS/fleet data; generate first evidence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28600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2075688"/>
            <a:ext cx="8412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2075688"/>
            <a:ext cx="64008" cy="73152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2194560"/>
            <a:ext cx="8092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127248" y="2560320"/>
            <a:ext cx="8092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E2632"/>
                </a:solidFill>
              </a:defRPr>
            </a:pPr>
            <a:r>
              <a:t>Pilot with TMS/EWD/GPS/fleet data; generate first evidence packs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08376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008376"/>
            <a:ext cx="64008" cy="73152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12724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5-6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49300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Paid MVP; case study; compliance/auditor partners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2186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008376"/>
            <a:ext cx="8412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80" y="3008376"/>
            <a:ext cx="64008" cy="73152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248" y="3127248"/>
            <a:ext cx="8092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3127248" y="3493008"/>
            <a:ext cx="8092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E2632"/>
                </a:solidFill>
              </a:defRPr>
            </a:pPr>
            <a:r>
              <a:t>Paid MVP; case study; compliance/auditor partners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941064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941064"/>
            <a:ext cx="64008" cy="73152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059936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7-9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425696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Supplier passport beta with 1-2 enterprise shippers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15137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3941064"/>
            <a:ext cx="8412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0" y="3941064"/>
            <a:ext cx="64008" cy="73152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4059936"/>
            <a:ext cx="8092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3127248" y="4425696"/>
            <a:ext cx="8092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E2632"/>
                </a:solidFill>
              </a:defRPr>
            </a:pPr>
            <a:r>
              <a:t>Supplier passport beta with 1-2 enterprise shippers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873752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4873752"/>
            <a:ext cx="64008" cy="7315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992624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10-12 months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5358384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1E2632"/>
                </a:solidFill>
              </a:defRPr>
            </a:pPr>
            <a:r>
              <a:t>Enterprise assurance launch; partner distribution; security readiness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5084064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555F6E"/>
                </a:solidFill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26080" y="4873752"/>
            <a:ext cx="8412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26080" y="4873752"/>
            <a:ext cx="64008" cy="7315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27248" y="4992624"/>
            <a:ext cx="8092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3127248" y="5358384"/>
            <a:ext cx="8092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E2632"/>
                </a:solidFill>
              </a:defRPr>
            </a:pPr>
            <a:r>
              <a:t>Enterprise assurance launch; partner distribution; security readiness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25. Pricing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Value-based pricing should be tied to audit effort, fleet complexity and supplier assurance scope.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7432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" cy="47091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6187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Operator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2423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Small/medium fleet</a:t>
            </a:r>
            <a:br/>
            <a:r>
              <a:t>Core evidence automation</a:t>
            </a:r>
            <a:br/>
            <a:r>
              <a:t>Basic assurance dashboard</a:t>
            </a:r>
            <a:br/>
            <a:br/>
            <a:r>
              <a:t>Indicative: A$750-$1.5k/month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43000"/>
            <a:ext cx="27432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143000"/>
            <a:ext cx="64008" cy="47091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26187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Operator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27632"/>
            <a:ext cx="2423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Larger fleet</a:t>
            </a:r>
            <a:br/>
            <a:r>
              <a:t>Multiple integrations</a:t>
            </a:r>
            <a:br/>
            <a:r>
              <a:t>CARs + audit pack</a:t>
            </a:r>
            <a:br/>
            <a:br/>
            <a:r>
              <a:t>Indicative: A$2k-$6k/month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143000"/>
            <a:ext cx="2423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143000"/>
            <a:ext cx="64008" cy="47091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Enterprise Shipper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627632"/>
            <a:ext cx="21031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Supplier assurance</a:t>
            </a:r>
            <a:br/>
            <a:r>
              <a:t>Passports</a:t>
            </a:r>
            <a:br/>
            <a:r>
              <a:t>Risk dashboard</a:t>
            </a:r>
            <a:br/>
            <a:br/>
            <a:r>
              <a:t>Indicative: A$50k-$250k/year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143000"/>
            <a:ext cx="2423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143000"/>
            <a:ext cx="64008" cy="470916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Audit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627632"/>
            <a:ext cx="21031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Workpapers</a:t>
            </a:r>
            <a:br/>
            <a:r>
              <a:t>Sampling</a:t>
            </a:r>
            <a:br/>
            <a:r>
              <a:t>Collaboration</a:t>
            </a:r>
            <a:br/>
            <a:br/>
            <a:r>
              <a:t>Indicative: seat + usage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26. Validation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next phase should prove pain, access to data and willingness to pay.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How many internal hours are spent preparing for audits or customer assurance requests?</a:t>
            </a:r>
          </a:p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Which evidence is hardest to collect, reconcile and trust?</a:t>
            </a:r>
          </a:p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Which systems contain the required evidence today?</a:t>
            </a:r>
          </a:p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Who owns CoR/HVA risk internally and who signs off?</a:t>
            </a:r>
          </a:p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How often are supplier assurance reviews performed and by whom?</a:t>
            </a:r>
          </a:p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Which data would a carrier be willing to share with customers, and at what level of aggregation?</a:t>
            </a:r>
          </a:p>
          <a:p>
            <a:pPr>
              <a:spcAft>
                <a:spcPts val="600"/>
              </a:spcAft>
              <a:defRPr sz="1700">
                <a:solidFill>
                  <a:srgbClr val="1E2632"/>
                </a:solidFill>
              </a:defRPr>
            </a:pPr>
            <a:r>
              <a:t>What outcome would justify paying for the product in the first 90 days?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27. Pilot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A pilot must produce measurable operational evidence, not just positive feedback.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Evidence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30-60% reduction target in audit-prep/evidence collection effort for selected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Risk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Identify real exceptions, missing evidence or recurring patterns that manual processes missed or found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533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Commercial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719072"/>
            <a:ext cx="3063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At least one design partner converts to paid MVP; at least one enterprise shipper validates supplier assurance need.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28. Updated narrative for investors /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Avoid shorthand labels. Use a precise category statement.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2337"/>
                </a:solidFill>
              </a:defRPr>
            </a:pPr>
            <a:r>
              <a:t>We are building the continuous assurance layer for logistics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2632"/>
                </a:solidFill>
              </a:defRPr>
            </a:pPr>
            <a:r>
              <a:t>It learns from proven compliance automation mechanics: frameworks, controls, integrations, evidence, monitoring, remediation and audit readiness.</a:t>
            </a:r>
          </a:p>
          <a:p>
            <a:pPr>
              <a:spcAft>
                <a:spcPts val="600"/>
              </a:spcAft>
              <a:defRPr sz="2000">
                <a:solidFill>
                  <a:srgbClr val="1E2632"/>
                </a:solidFill>
              </a:defRPr>
            </a:pPr>
            <a:r>
              <a:t>It is materially different because logistics assurance depends on physical operations, multi-party CoR relationships, live transport events and supplier networks.</a:t>
            </a:r>
          </a:p>
          <a:p>
            <a:pPr>
              <a:spcAft>
                <a:spcPts val="600"/>
              </a:spcAft>
              <a:defRPr sz="2000">
                <a:solidFill>
                  <a:srgbClr val="1E2632"/>
                </a:solidFill>
              </a:defRPr>
            </a:pPr>
            <a:r>
              <a:t>The long-term category is not another TMS or generic GRC system: it is logistics assurance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92040"/>
            <a:ext cx="10149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4892040"/>
            <a:ext cx="64008" cy="73152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5010912"/>
            <a:ext cx="9829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Phrase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5376672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Continuous assurance and audit readiness for logistics operators and outsourced transport supply chains.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29. What not to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Positioning discipline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429768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4475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Avoid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48463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1E2632"/>
                </a:solidFill>
              </a:defRPr>
            </a:pPr>
            <a:r>
              <a:t>• Any direct clone-style analogy</a:t>
            </a:r>
            <a:br/>
            <a:r>
              <a:t>• Claims that AI replaces auditors</a:t>
            </a:r>
            <a:br/>
            <a:r>
              <a:t>• Claims every logistics company needs HVA</a:t>
            </a:r>
            <a:br/>
            <a:r>
              <a:t>• One-size-fits-all compliance score</a:t>
            </a:r>
            <a:br/>
            <a:r>
              <a:t>• ‘Regulator-ready certification’ language</a:t>
            </a:r>
            <a:br/>
            <a:r>
              <a:t>• Building another TMS or generic GRC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64008" cy="429768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4475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Use instead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10512"/>
            <a:ext cx="48463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1E2632"/>
                </a:solidFill>
              </a:defRPr>
            </a:pPr>
            <a:r>
              <a:t>• Transport-native continuous assurance</a:t>
            </a:r>
            <a:br/>
            <a:r>
              <a:t>• Control effectiveness, not policy storage</a:t>
            </a:r>
            <a:br/>
            <a:r>
              <a:t>• Evidence lineage and human judgement</a:t>
            </a:r>
            <a:br/>
            <a:r>
              <a:t>• Operator + customer + auditor workflows</a:t>
            </a:r>
            <a:br/>
            <a:r>
              <a:t>• CoR/HVA applicability engine</a:t>
            </a:r>
            <a:br/>
            <a:r>
              <a:t>• Supplier trust network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30. Long-term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The moat is not the LLM. It is the logistics assurance graph and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0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Regulatory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2286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Obligations, jurisdictions, effective dates, roles, controls and interpretations.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23444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234440"/>
            <a:ext cx="64008" cy="4480560"/>
          </a:xfrm>
          <a:prstGeom prst="rect">
            <a:avLst/>
          </a:prstGeom>
          <a:solidFill>
            <a:srgbClr val="15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353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Evidence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1719072"/>
            <a:ext cx="2286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Source lineage connecting drivers, vehicles, trips, loads, incidents and suppliers.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23444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234440"/>
            <a:ext cx="64008" cy="448056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353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Risk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719072"/>
            <a:ext cx="2286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Patterns linking operations to control failures, repeated issues and root causes.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234440"/>
            <a:ext cx="2011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1234440"/>
            <a:ext cx="64008" cy="4480560"/>
          </a:xfrm>
          <a:prstGeom prst="rect">
            <a:avLst/>
          </a:prstGeom>
          <a:solidFill>
            <a:srgbClr val="2A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35331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1719072"/>
            <a:ext cx="16916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0">
                <a:solidFill>
                  <a:srgbClr val="1E2632"/>
                </a:solidFill>
              </a:defRPr>
            </a:pPr>
            <a:r>
              <a:t>Compliance passports and supplier assurance relationships.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31. Immediate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Update the product backlog and customer validation pack around this positioning.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2632"/>
                </a:solidFill>
              </a:defRPr>
            </a:pPr>
            <a:r>
              <a:t>Rewrite product narrative around Logistics Assurance Automation and remove direct shorthand analogies.</a:t>
            </a:r>
          </a:p>
          <a:p>
            <a:pPr>
              <a:spcAft>
                <a:spcPts val="600"/>
              </a:spcAft>
              <a:defRPr sz="1900">
                <a:solidFill>
                  <a:srgbClr val="1E2632"/>
                </a:solidFill>
              </a:defRPr>
            </a:pPr>
            <a:r>
              <a:t>Update business case to benchmark mechanics from modern compliance automation without naming the category as a clone.</a:t>
            </a:r>
          </a:p>
          <a:p>
            <a:pPr>
              <a:spcAft>
                <a:spcPts val="600"/>
              </a:spcAft>
              <a:defRPr sz="1900">
                <a:solidFill>
                  <a:srgbClr val="1E2632"/>
                </a:solidFill>
              </a:defRPr>
            </a:pPr>
            <a:r>
              <a:t>Update PRD with product patterns: control framework, integrations, evidence vault, continuous tests, remediation, audit workspace, assurance passport.</a:t>
            </a:r>
          </a:p>
          <a:p>
            <a:pPr>
              <a:spcAft>
                <a:spcPts val="600"/>
              </a:spcAft>
              <a:defRPr sz="1900">
                <a:solidFill>
                  <a:srgbClr val="1E2632"/>
                </a:solidFill>
              </a:defRPr>
            </a:pPr>
            <a:r>
              <a:t>Use the 48-control catalogue as structured product IP and extend it with applicability and evidence-sharing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800600"/>
            <a:ext cx="64008" cy="7315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5285232"/>
            <a:ext cx="10195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E2632"/>
                </a:solidFill>
              </a:defRPr>
            </a:pPr>
            <a:r>
              <a:t>Proceed to design-partner discovery using the updated positioning and the control-test catalogue.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42337"/>
                </a:solidFill>
              </a:defRPr>
            </a:pPr>
            <a:r>
              <a:t>32.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>
                <a:solidFill>
                  <a:srgbClr val="555F6E"/>
                </a:solidFill>
              </a:defRPr>
            </a:pPr>
            <a:r>
              <a:t>Key sources and benchmark inputs.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FFFFFF"/>
                </a:solidFill>
              </a:defRPr>
            </a:pPr>
            <a:r>
              <a:t>Logistics Compliance Intelligence Platform | Updated positioning | 18 Aug 2026  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NHVR HVA scheme, HVA audits, SMS and Chain of Responsibility guidance.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NHVR HVNL / regulations, fatigue, EWD, mass/dimension/loading and loading guidance.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ABS Transport, Postal and Warehousing business count and industry statistics.</a:t>
            </a:r>
          </a:p>
          <a:p>
            <a:pPr>
              <a:spcAft>
                <a:spcPts val="600"/>
              </a:spcAft>
              <a:defRPr sz="1800">
                <a:solidFill>
                  <a:srgbClr val="1E2632"/>
                </a:solidFill>
              </a:defRPr>
            </a:pPr>
            <a:r>
              <a:t>Benchmark review of modern trust/compliance automation product mechanics: automated evidence collection, continuous monitoring, multi-framework controls, audit readiness and trust-sharing portals.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10424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64008" cy="1005840"/>
          </a:xfrm>
          <a:prstGeom prst="rect">
            <a:avLst/>
          </a:prstGeom>
          <a:solidFill>
            <a:srgbClr val="D68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736592"/>
            <a:ext cx="10104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Important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5102352"/>
            <a:ext cx="10104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E2632"/>
                </a:solidFill>
              </a:defRPr>
            </a:pPr>
            <a:r>
              <a:t>The benchmark informs product mechanics only. The proposed product should be positioned as a transport-native assurance platform, not as a clone or direct analogy.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